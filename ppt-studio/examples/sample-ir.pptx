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142A4D"/>
            </a:solidFill>
          </c:spPr>
          <c:dPt>
            <c:idx val="0"/>
            <c:spPr>
              <a:solidFill>
                <a:srgbClr val="C5CCD6"/>
              </a:solidFill>
            </c:spPr>
          </c:dPt>
          <c:dPt>
            <c:idx val="1"/>
            <c:spPr>
              <a:solidFill>
                <a:srgbClr val="C5CCD6"/>
              </a:solidFill>
            </c:spPr>
          </c:dPt>
          <c:dPt>
            <c:idx val="2"/>
            <c:spPr>
              <a:solidFill>
                <a:srgbClr val="C5CCD6"/>
              </a:solidFill>
            </c:spPr>
          </c:dPt>
          <c:dPt>
            <c:idx val="3"/>
            <c:spPr>
              <a:solidFill>
                <a:srgbClr val="E8833A"/>
              </a:solidFill>
            </c:spPr>
          </c:dPt>
          <c:cat>
            <c:strRef>
              <c:f>Sheet1!$A$2:$A$5</c:f>
              <c:strCache>
                <c:ptCount val="4"/>
                <c:pt idx="0">
                  <c:v>25.4Q</c:v>
                </c:pt>
                <c:pt idx="1">
                  <c:v>26.1Q</c:v>
                </c:pt>
                <c:pt idx="2">
                  <c:v>26.2Q</c:v>
                </c:pt>
                <c:pt idx="3">
                  <c:v>26.3Q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</c:v>
                </c:pt>
                <c:pt idx="1">
                  <c:v>2300</c:v>
                </c:pt>
                <c:pt idx="2">
                  <c:v>4100</c:v>
                </c:pt>
                <c:pt idx="3">
                  <c:v>7800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5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E2329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ln w="31750">
              <a:solidFill>
                <a:srgbClr val="142A4D"/>
              </a:solidFill>
            </a:ln>
          </c:spP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45</c:v>
                </c:pt>
                <c:pt idx="2">
                  <c:v>92</c:v>
                </c:pt>
                <c:pt idx="3">
                  <c:v>160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영업비용</c:v>
                </c:pt>
              </c:strCache>
            </c:strRef>
          </c:tx>
          <c:spPr>
            <a:ln w="31750">
              <a:solidFill>
                <a:srgbClr val="E8833A"/>
              </a:solidFill>
            </a:ln>
          </c:spP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58</c:v>
                </c:pt>
                <c:pt idx="2">
                  <c:v>90</c:v>
                </c:pt>
                <c:pt idx="3">
                  <c:v>128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5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1E2329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30초. 숫자 3개만 읽고 다음 장으로.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26" y="2606040"/>
            <a:ext cx="822960" cy="5715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26" y="2880360"/>
            <a:ext cx="11094443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예시기업 A
Series A 투자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26" y="4389120"/>
            <a:ext cx="110944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C9D3E3"/>
                </a:solidFill>
                <a:latin typeface="Pretendard"/>
                <a:ea typeface="Pretendard"/>
                <a:cs typeface="Pretendard"/>
              </a:rPr>
              <a:t>레이아웃 점검용 샘플 — 모든 수치는 가상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26" y="6035040"/>
            <a:ext cx="1109444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9D3E3"/>
                </a:solidFill>
                <a:latin typeface="Pretendard"/>
                <a:ea typeface="Pretendard"/>
                <a:cs typeface="Pretendard"/>
              </a:rPr>
              <a:t>2026.10 · 발표자명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26" y="651510"/>
            <a:ext cx="11094443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42A4D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26" y="6386520"/>
            <a:ext cx="11094443" cy="9525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26" y="6446520"/>
            <a:ext cx="10180043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69" y="6446520"/>
            <a:ext cx="914400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26" y="185166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8833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26" y="1891660"/>
            <a:ext cx="101800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문제와 시장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26" y="2644620"/>
            <a:ext cx="11094443" cy="6350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26" y="267462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8833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26" y="2714620"/>
            <a:ext cx="101800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솔루션과 차별점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26" y="3467580"/>
            <a:ext cx="11094443" cy="6350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26" y="349758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8833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26" y="3537580"/>
            <a:ext cx="101800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트랙션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26" y="4290540"/>
            <a:ext cx="11094443" cy="6350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26" y="432054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8833A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26" y="4360540"/>
            <a:ext cx="101800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재무 계획과 투자 조건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26" y="5113500"/>
            <a:ext cx="11094443" cy="6350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26" y="2057400"/>
            <a:ext cx="110944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E8833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26" y="3566160"/>
            <a:ext cx="822960" cy="57150"/>
          </a:xfrm>
          <a:prstGeom prst="rect">
            <a:avLst/>
          </a:prstGeom>
          <a:solidFill>
            <a:srgbClr val="14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26" y="3840480"/>
            <a:ext cx="110944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42A4D"/>
                </a:solidFill>
                <a:latin typeface="Pretendard"/>
                <a:ea typeface="Pretendard"/>
                <a:cs typeface="Pretendard"/>
              </a:rPr>
              <a:t>문제와 시장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26" y="377190"/>
            <a:ext cx="11094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833A"/>
                </a:solidFill>
                <a:latin typeface="Pretendard"/>
                <a:ea typeface="Pretendard"/>
                <a:cs typeface="Pretendard"/>
              </a:rPr>
              <a:t>01 문제와 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651510"/>
            <a:ext cx="11094443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42A4D"/>
                </a:solidFill>
                <a:latin typeface="Pretendard"/>
                <a:ea typeface="Pretendard"/>
                <a:cs typeface="Pretendard"/>
              </a:rPr>
              <a:t>중소 제조사는 견적 회신에 평균 5일을 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26" y="6386520"/>
            <a:ext cx="11094443" cy="9525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26" y="6446520"/>
            <a:ext cx="10180043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출처: 가상 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69" y="6446520"/>
            <a:ext cx="914400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26" y="1851660"/>
            <a:ext cx="57150" cy="5029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26" y="1851660"/>
            <a:ext cx="1086584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견적 지연이 수주 실패의 1순위 원인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26" y="2766060"/>
            <a:ext cx="11094443" cy="3406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80"/>
              </a:spcAft>
            </a:pPr>
            <a:r>
              <a:rPr sz="1800" b="1">
                <a:solidFill>
                  <a:srgbClr val="142A4D"/>
                </a:solidFill>
                <a:latin typeface="Pretendard"/>
                <a:ea typeface="Pretendard"/>
                <a:cs typeface="Pretendard"/>
              </a:rPr>
              <a:t>•  회신 지연  </a:t>
            </a:r>
            <a:r>
              <a:rPr sz="18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견적 요청의 38%가 이탈</a:t>
            </a:r>
          </a:p>
          <a:p>
            <a:pPr algn="l">
              <a:lnSpc>
                <a:spcPct val="125000"/>
              </a:lnSpc>
              <a:spcAft>
                <a:spcPts val="1080"/>
              </a:spcAft>
            </a:pPr>
            <a:r>
              <a:rPr sz="1800" b="1">
                <a:solidFill>
                  <a:srgbClr val="142A4D"/>
                </a:solidFill>
                <a:latin typeface="Pretendard"/>
                <a:ea typeface="Pretendard"/>
                <a:cs typeface="Pretendard"/>
              </a:rPr>
              <a:t>•  수작업 처리  </a:t>
            </a:r>
            <a:r>
              <a:rPr sz="18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담당자 1인 월 120건</a:t>
            </a:r>
          </a:p>
          <a:p>
            <a:pPr algn="l">
              <a:lnSpc>
                <a:spcPct val="125000"/>
              </a:lnSpc>
              <a:spcAft>
                <a:spcPts val="1080"/>
              </a:spcAft>
            </a:pPr>
            <a:r>
              <a:rPr sz="1800" b="1">
                <a:solidFill>
                  <a:srgbClr val="142A4D"/>
                </a:solidFill>
                <a:latin typeface="Pretendard"/>
                <a:ea typeface="Pretendard"/>
                <a:cs typeface="Pretendard"/>
              </a:rPr>
              <a:t>•  기존 ERP  </a:t>
            </a:r>
            <a:r>
              <a:rPr sz="18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견적 자동화 기능 부재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26" y="377190"/>
            <a:ext cx="11094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833A"/>
                </a:solidFill>
                <a:latin typeface="Pretendard"/>
                <a:ea typeface="Pretendard"/>
                <a:cs typeface="Pretendard"/>
              </a:rPr>
              <a:t>02 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651510"/>
            <a:ext cx="11094443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42A4D"/>
                </a:solidFill>
                <a:latin typeface="Pretendard"/>
                <a:ea typeface="Pretendard"/>
                <a:cs typeface="Pretendard"/>
              </a:rPr>
              <a:t>도입 전후 견적 프로세스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26" y="6386520"/>
            <a:ext cx="11094443" cy="9525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26" y="6446520"/>
            <a:ext cx="10180043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69" y="6446520"/>
            <a:ext cx="914400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26" y="1851660"/>
            <a:ext cx="5364341" cy="5486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26" y="1851660"/>
            <a:ext cx="490714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도입 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26" y="2400300"/>
            <a:ext cx="5364341" cy="37719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46" y="2674620"/>
            <a:ext cx="4815701" cy="3314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60"/>
              </a:spcAft>
            </a:pPr>
            <a:r>
              <a:rPr sz="16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•  엑셀 단가표 수동 조회</a:t>
            </a:r>
          </a:p>
          <a:p>
            <a:pPr algn="l">
              <a:lnSpc>
                <a:spcPct val="115000"/>
              </a:lnSpc>
              <a:spcAft>
                <a:spcPts val="960"/>
              </a:spcAft>
            </a:pPr>
            <a:r>
              <a:rPr sz="16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•  담당자 승인 대기 2일</a:t>
            </a:r>
          </a:p>
          <a:p>
            <a:pPr algn="l">
              <a:lnSpc>
                <a:spcPct val="115000"/>
              </a:lnSpc>
              <a:spcAft>
                <a:spcPts val="960"/>
              </a:spcAft>
            </a:pPr>
            <a:r>
              <a:rPr sz="16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•  회신 평균 5일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1851660"/>
            <a:ext cx="5364341" cy="548640"/>
          </a:xfrm>
          <a:prstGeom prst="rect">
            <a:avLst/>
          </a:prstGeom>
          <a:solidFill>
            <a:srgbClr val="14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1851660"/>
            <a:ext cx="490714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도입 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400300"/>
            <a:ext cx="5364341" cy="37719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047" y="2674620"/>
            <a:ext cx="4815701" cy="3314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60"/>
              </a:spcAft>
            </a:pPr>
            <a:r>
              <a:rPr sz="16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•  단가 자동 산출</a:t>
            </a:r>
          </a:p>
          <a:p>
            <a:pPr algn="l">
              <a:lnSpc>
                <a:spcPct val="115000"/>
              </a:lnSpc>
              <a:spcAft>
                <a:spcPts val="960"/>
              </a:spcAft>
            </a:pPr>
            <a:r>
              <a:rPr sz="16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•  규칙 기반 자동 승인</a:t>
            </a:r>
          </a:p>
          <a:p>
            <a:pPr algn="l">
              <a:lnSpc>
                <a:spcPct val="115000"/>
              </a:lnSpc>
              <a:spcAft>
                <a:spcPts val="960"/>
              </a:spcAft>
            </a:pPr>
            <a:r>
              <a:rPr sz="16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•  회신 평균 4시간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26" y="377190"/>
            <a:ext cx="11094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833A"/>
                </a:solidFill>
                <a:latin typeface="Pretendard"/>
                <a:ea typeface="Pretendard"/>
                <a:cs typeface="Pretendard"/>
              </a:rPr>
              <a:t>02 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651510"/>
            <a:ext cx="11094443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42A4D"/>
                </a:solidFill>
                <a:latin typeface="Pretendard"/>
                <a:ea typeface="Pretendard"/>
                <a:cs typeface="Pretendard"/>
              </a:rPr>
              <a:t>경쟁사 대비 도입 기간과 비용이 가장 낮다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26" y="6386520"/>
            <a:ext cx="11094443" cy="9525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26" y="6446520"/>
            <a:ext cx="10180043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출처: 각사 홈페이지(가상)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69" y="6446520"/>
            <a:ext cx="914400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26" y="1851660"/>
          <a:ext cx="11094443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3610"/>
                <a:gridCol w="2773610"/>
                <a:gridCol w="2773610"/>
                <a:gridCol w="2773613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marL="109728" marR="109728" anchor="ctr">
                    <a:solidFill>
                      <a:srgbClr val="142A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예시기업 A</a:t>
                      </a:r>
                    </a:p>
                  </a:txBody>
                  <a:tcPr marL="109728" marR="109728" anchor="ctr">
                    <a:solidFill>
                      <a:srgbClr val="142A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marL="109728" marR="109728" anchor="ctr">
                    <a:solidFill>
                      <a:srgbClr val="142A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marL="109728" marR="109728" anchor="ctr">
                    <a:solidFill>
                      <a:srgbClr val="142A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3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도입 기간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3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1주</a:t>
                      </a:r>
                    </a:p>
                  </a:txBody>
                  <a:tcPr marL="109728" marR="109728" anchor="ctr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3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6주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3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4주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3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월 비용</a:t>
                      </a:r>
                    </a:p>
                  </a:txBody>
                  <a:tcPr marL="109728" marR="10972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3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49만원</a:t>
                      </a:r>
                    </a:p>
                  </a:txBody>
                  <a:tcPr marL="109728" marR="109728" anchor="ctr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3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120만원</a:t>
                      </a:r>
                    </a:p>
                  </a:txBody>
                  <a:tcPr marL="109728" marR="10972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3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80만원</a:t>
                      </a:r>
                    </a:p>
                  </a:txBody>
                  <a:tcPr marL="109728" marR="109728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3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ERP 연동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3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 제공</a:t>
                      </a:r>
                    </a:p>
                  </a:txBody>
                  <a:tcPr marL="109728" marR="109728" anchor="ctr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3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별도 개발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3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일부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3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한국어 지원</a:t>
                      </a:r>
                    </a:p>
                  </a:txBody>
                  <a:tcPr marL="109728" marR="10972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3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O</a:t>
                      </a:r>
                    </a:p>
                  </a:txBody>
                  <a:tcPr marL="109728" marR="109728" anchor="ctr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3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X</a:t>
                      </a:r>
                    </a:p>
                  </a:txBody>
                  <a:tcPr marL="109728" marR="10972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3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O</a:t>
                      </a:r>
                    </a:p>
                  </a:txBody>
                  <a:tcPr marL="109728" marR="10972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26" y="377190"/>
            <a:ext cx="11094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833A"/>
                </a:solidFill>
                <a:latin typeface="Pretendard"/>
                <a:ea typeface="Pretendard"/>
                <a:cs typeface="Pretendard"/>
              </a:rPr>
              <a:t>03 트랙션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651510"/>
            <a:ext cx="11094443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42A4D"/>
                </a:solidFill>
                <a:latin typeface="Pretendard"/>
                <a:ea typeface="Pretendard"/>
                <a:cs typeface="Pretendard"/>
              </a:rPr>
              <a:t>분기 매출은 4개 분기 연속 2배 가까이 성장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26" y="6386520"/>
            <a:ext cx="11094443" cy="9525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26" y="6446520"/>
            <a:ext cx="10180043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출처: 가상 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69" y="6446520"/>
            <a:ext cx="914400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26" y="1851660"/>
          <a:ext cx="7322332" cy="43205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26" y="1531620"/>
            <a:ext cx="73223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단위: 만원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36718" y="2125980"/>
            <a:ext cx="57150" cy="4572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5318" y="2125980"/>
            <a:ext cx="3177751" cy="404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3Q 매출 7,800만원
전 분기 대비 +90%
성장 동력: 기존 고객 업셀(좌석 추가)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26" y="377190"/>
            <a:ext cx="11094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833A"/>
                </a:solidFill>
                <a:latin typeface="Pretendard"/>
                <a:ea typeface="Pretendard"/>
                <a:cs typeface="Pretendard"/>
              </a:rPr>
              <a:t>03 트랙션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651510"/>
            <a:ext cx="11094443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42A4D"/>
                </a:solidFill>
                <a:latin typeface="Pretendard"/>
                <a:ea typeface="Pretendard"/>
                <a:cs typeface="Pretendard"/>
              </a:rPr>
              <a:t>출시 9개월 만에 유료 고객 42곳 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26" y="6386520"/>
            <a:ext cx="11094443" cy="9525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26" y="6446520"/>
            <a:ext cx="10180043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출처: 가상 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69" y="6446520"/>
            <a:ext cx="914400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26" y="1851660"/>
            <a:ext cx="2567870" cy="29260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26" y="1851660"/>
            <a:ext cx="2567870" cy="5715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46" y="2125980"/>
            <a:ext cx="201923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42A4D"/>
                </a:solidFill>
                <a:latin typeface="Pretendard"/>
                <a:ea typeface="Pretendard"/>
                <a:cs typeface="Pretendard"/>
              </a:rPr>
              <a:t>42곳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46" y="3314700"/>
            <a:ext cx="201923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유료 고객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46" y="3782872"/>
            <a:ext cx="201923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제조사 B2B 구독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816" y="1851660"/>
            <a:ext cx="2567870" cy="29260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816" y="1851660"/>
            <a:ext cx="2567870" cy="5715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5136" y="2125980"/>
            <a:ext cx="201923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42A4D"/>
                </a:solidFill>
                <a:latin typeface="Pretendard"/>
                <a:ea typeface="Pretendard"/>
                <a:cs typeface="Pretendard"/>
              </a:rPr>
              <a:t>4.1억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5136" y="3314700"/>
            <a:ext cx="201923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ARR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5136" y="3782872"/>
            <a:ext cx="201923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2026.09 기준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6" y="1851660"/>
            <a:ext cx="2567870" cy="29260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6" y="1851660"/>
            <a:ext cx="2567870" cy="5715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6" y="2125980"/>
            <a:ext cx="201923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42A4D"/>
                </a:solidFill>
                <a:latin typeface="Pretendard"/>
                <a:ea typeface="Pretendard"/>
                <a:cs typeface="Pretendard"/>
              </a:rPr>
              <a:t>118%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6" y="3314700"/>
            <a:ext cx="201923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NRR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6" y="3782872"/>
            <a:ext cx="201923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D92D20"/>
                </a:solidFill>
                <a:latin typeface="Pretendard"/>
                <a:ea typeface="Pretendard"/>
                <a:cs typeface="Pretendard"/>
              </a:rPr>
              <a:t>[확인필요] 산식 재확인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75196" y="1851660"/>
            <a:ext cx="2567870" cy="29260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75196" y="1851660"/>
            <a:ext cx="2567870" cy="5715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9516" y="2125980"/>
            <a:ext cx="201923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42A4D"/>
                </a:solidFill>
                <a:latin typeface="Pretendard"/>
                <a:ea typeface="Pretendard"/>
                <a:cs typeface="Pretendard"/>
              </a:rPr>
              <a:t>2.1%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9516" y="3314700"/>
            <a:ext cx="201923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월 이탈률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9516" y="3782872"/>
            <a:ext cx="201923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최근 6개월 평균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26" y="377190"/>
            <a:ext cx="11094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833A"/>
                </a:solidFill>
                <a:latin typeface="Pretendard"/>
                <a:ea typeface="Pretendard"/>
                <a:cs typeface="Pretendard"/>
              </a:rPr>
              <a:t>04 재무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651510"/>
            <a:ext cx="11094443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42A4D"/>
                </a:solidFill>
                <a:latin typeface="Pretendard"/>
                <a:ea typeface="Pretendard"/>
                <a:cs typeface="Pretendard"/>
              </a:rPr>
              <a:t>2028년 손익분기 도달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26" y="6386520"/>
            <a:ext cx="11094443" cy="9525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26" y="6446520"/>
            <a:ext cx="10180043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출처: 가상 데이터 · 추정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69" y="6446520"/>
            <a:ext cx="914400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26" y="1851660"/>
          <a:ext cx="11094443" cy="43205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26" y="1531620"/>
            <a:ext cx="11094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단위: 억원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26" y="377190"/>
            <a:ext cx="11094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833A"/>
                </a:solidFill>
                <a:latin typeface="Pretendard"/>
                <a:ea typeface="Pretendard"/>
                <a:cs typeface="Pretendard"/>
              </a:rPr>
              <a:t>04 투자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651510"/>
            <a:ext cx="11094443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42A4D"/>
                </a:solidFill>
                <a:latin typeface="Pretendard"/>
                <a:ea typeface="Pretendard"/>
                <a:cs typeface="Pretendard"/>
              </a:rPr>
              <a:t>투자금 20억 사용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26" y="6386520"/>
            <a:ext cx="11094443" cy="9525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26" y="6446520"/>
            <a:ext cx="10180043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69" y="6446520"/>
            <a:ext cx="914400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8" name="Chevron 7"/>
          <p:cNvSpPr/>
          <p:nvPr/>
        </p:nvSpPr>
        <p:spPr>
          <a:xfrm>
            <a:off x="548626" y="2499741"/>
            <a:ext cx="2636450" cy="1005840"/>
          </a:xfrm>
          <a:prstGeom prst="chevron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66" y="2499741"/>
            <a:ext cx="208781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1. 제품 고도화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66" y="3734181"/>
            <a:ext cx="2453570" cy="3040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8억 · 개발 인력 6명</a:t>
            </a:r>
          </a:p>
        </p:txBody>
      </p:sp>
      <p:sp>
        <p:nvSpPr>
          <p:cNvPr id="11" name="Chevron 10"/>
          <p:cNvSpPr/>
          <p:nvPr/>
        </p:nvSpPr>
        <p:spPr>
          <a:xfrm>
            <a:off x="3367956" y="2499741"/>
            <a:ext cx="2636450" cy="1005840"/>
          </a:xfrm>
          <a:prstGeom prst="chevron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7996" y="2499741"/>
            <a:ext cx="208781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2. 영업 확장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396" y="3734181"/>
            <a:ext cx="2453570" cy="3040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7억 · 수도권 영업망</a:t>
            </a:r>
          </a:p>
        </p:txBody>
      </p:sp>
      <p:sp>
        <p:nvSpPr>
          <p:cNvPr id="14" name="Chevron 13"/>
          <p:cNvSpPr/>
          <p:nvPr/>
        </p:nvSpPr>
        <p:spPr>
          <a:xfrm>
            <a:off x="6187286" y="2499741"/>
            <a:ext cx="2636450" cy="1005840"/>
          </a:xfrm>
          <a:prstGeom prst="chevron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6" y="2499741"/>
            <a:ext cx="208781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3. 해외 PoC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6" y="3734181"/>
            <a:ext cx="2453570" cy="3040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3억 · 베트남 2개사</a:t>
            </a:r>
          </a:p>
        </p:txBody>
      </p:sp>
      <p:sp>
        <p:nvSpPr>
          <p:cNvPr id="17" name="Pentagon 16"/>
          <p:cNvSpPr/>
          <p:nvPr/>
        </p:nvSpPr>
        <p:spPr>
          <a:xfrm>
            <a:off x="9006616" y="2499741"/>
            <a:ext cx="2636450" cy="1005840"/>
          </a:xfrm>
          <a:prstGeom prst="homePlate">
            <a:avLst/>
          </a:prstGeom>
          <a:solidFill>
            <a:srgbClr val="14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656" y="2499741"/>
            <a:ext cx="208781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운영자금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056" y="3734181"/>
            <a:ext cx="2453570" cy="3040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E2329"/>
                </a:solidFill>
                <a:latin typeface="Pretendard"/>
                <a:ea typeface="Pretendard"/>
                <a:cs typeface="Pretendard"/>
              </a:rPr>
              <a:t>2억 · 18개월 런웨이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26" y="2606040"/>
            <a:ext cx="11094443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3840480"/>
            <a:ext cx="110944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9D3E3"/>
                </a:solidFill>
                <a:latin typeface="Pretendard"/>
                <a:ea typeface="Pretendard"/>
                <a:cs typeface="Pretendard"/>
              </a:rPr>
              <a:t>담당자명 | 연락처 | 이메일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